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-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&gt;&gt;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1</a:t>
            </a:r>
          </a:p>
        </p:txBody>
      </p:sp>
      <p:pic>
        <p:nvPicPr>
          <p:cNvPr id="3" name="Picture 2" descr="fig1_framework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7288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1. Overview of the KOTHA Framework. Module K (Counterfactual Power Simulation) quantifies risk-profile shift and estimates power under counterfactual enrollment scenarios. Module T (Bayesian Evidence Integration) combines RCT and observational evidence using power-prior discounting. Module H (Guideline Interpreter) synthesizes outputs into a structured GRADE-compatible assessment.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2</a:t>
            </a:r>
          </a:p>
        </p:txBody>
      </p:sp>
      <p:pic>
        <p:nvPicPr>
          <p:cNvPr id="3" name="Picture 2" descr="fig2_risk_profile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4248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2. Risk-profile shift in the magnesium-in-AMI case. (A) Control-group mortality rates over time, with bubble size proportional to study sample size and colors indicating era. (B) Weighted mean control mortality by era.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3</a:t>
            </a:r>
          </a:p>
        </p:txBody>
      </p:sp>
      <p:pic>
        <p:nvPicPr>
          <p:cNvPr id="3" name="Picture 2" descr="fig3_powe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43200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3. Estimated power by enrollment scenario and true effect size. (A) Magnesium in AMI at the ISIS-4 sample size (N = 58,050). (B) Statins in HF at the combined RCT sample size (N = 9,585). S1 = real-world/observational event rate; S2 = RCT event rate; S3 = intermediate/enriched rate. Horizontal dashed lines indicate 80% power.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4</a:t>
            </a:r>
          </a:p>
        </p:txBody>
      </p:sp>
      <p:pic>
        <p:nvPicPr>
          <p:cNvPr id="3" name="Picture 2" descr="fig4_forest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53546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4. Forest plots for (A) magnesium in AMI and (B) statins in heart failure. Individual study effect estimates are shown with 95% confidence intervals. Pooled estimates include frequentist random-effects and Bayesian integrated estimates at selected discounting levels (alpha = 0.3, 0.5, 1.0 for magnesium; 0.1, 0.3, 0.5 for statins).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5</a:t>
            </a:r>
          </a:p>
        </p:txBody>
      </p:sp>
      <p:pic>
        <p:nvPicPr>
          <p:cNvPr id="3" name="Picture 2" descr="fig7_sensitivit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42474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5. Sensitivity analysis of Bayesian integration to the discounting parameter alpha. (A) Magnesium in AMI. (B) Statins in HF. Three posterior probability thresholds are shown: P(effect &lt; 1.0), P(effect &lt; 0.90), and P(effect &lt; 0.80). Horizontal dashed line indicates 95% probability.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6</a:t>
            </a:r>
          </a:p>
        </p:txBody>
      </p:sp>
      <p:pic>
        <p:nvPicPr>
          <p:cNvPr id="3" name="Picture 2" descr="fig_simulation_operating_character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79465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6. Operating characteristics of the simulation study. (A) Bias and RMSE for the target, RCT-enrolled-only, observational-only, fixed KOTHA (α = 0.3), and RMSE-optimal KOTHA estimators. (B) Coverage and power. Error bars in A show RMSE around the bias estimate; coverage and power are empirical proportions across replications.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